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($B)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&quot;$&quot;0.00&quot;B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E8ECF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 FY26</c:v>
                  </c:pt>
                  <c:pt idx="1">
                    <c:v>Q2 FY26</c:v>
                  </c:pt>
                  <c:pt idx="2">
                    <c:v>Q3 FY26</c:v>
                  </c:pt>
                  <c:pt idx="3">
                    <c:v>Q4 FY26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2.31</c:v>
                </c:pt>
                <c:pt idx="1">
                  <c:v>3.03</c:v>
                </c:pt>
                <c:pt idx="2">
                  <c:v>5.95</c:v>
                </c:pt>
                <c:pt idx="3">
                  <c:v>8.96</c:v>
                </c:pt>
              </c:numCache>
            </c:numRef>
          </c:val>
        </c:ser>
        <c:dLbls>
          <c:numFmt formatCode="&quot;$&quot;0.00&quot;B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E8ECF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.5"/>
        </c:scaling>
        <c:delete val="1"/>
        <c:axPos val="l"/>
        <c:majorGridlines>
          <c:spPr>
            <a:ln w="12700" cap="flat">
              <a:solidFill>
                <a:srgbClr val="1E263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E14"/>
        </a:solidFill>
        <a:ln w="12700" cap="flat">
          <a:solidFill>
            <a:srgbClr val="0B0E14"/>
          </a:solidFill>
        </a:ln>
        <a:effectLst/>
      </c:spPr>
    </c:plotArea>
    <c:plotVisOnly val="1"/>
    <c:dispBlanksAs val="span"/>
  </c:chart>
  <c:spPr>
    <a:solidFill>
      <a:srgbClr val="0B0E14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(%)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E8ECF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 FY26</c:v>
                  </c:pt>
                  <c:pt idx="1">
                    <c:v>Q2 FY26</c:v>
                  </c:pt>
                  <c:pt idx="2">
                    <c:v>Q3 FY26</c:v>
                  </c:pt>
                  <c:pt idx="3">
                    <c:v>Q4 FY26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29.9</c:v>
                </c:pt>
                <c:pt idx="1">
                  <c:v>51.1</c:v>
                </c:pt>
                <c:pt idx="2">
                  <c:v>78.4</c:v>
                </c:pt>
                <c:pt idx="3">
                  <c:v>84.6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E8ECF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l"/>
        <c:majorGridlines>
          <c:spPr>
            <a:ln w="12700" cap="flat">
              <a:solidFill>
                <a:srgbClr val="1E263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E14"/>
        </a:solidFill>
        <a:ln w="12700" cap="flat">
          <a:solidFill>
            <a:srgbClr val="0B0E14"/>
          </a:solidFill>
        </a:ln>
        <a:effectLst/>
      </c:spPr>
    </c:plotArea>
    <c:plotVisOnly val="1"/>
    <c:dispBlanksAs val="span"/>
  </c:chart>
  <c:spPr>
    <a:solidFill>
      <a:srgbClr val="0B0E14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GAAP diluted EPS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&quot;$&quot;0.0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E8ECF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 FY26</c:v>
                  </c:pt>
                  <c:pt idx="1">
                    <c:v>Q2 FY26</c:v>
                  </c:pt>
                  <c:pt idx="2">
                    <c:v>Q3 FY26</c:v>
                  </c:pt>
                  <c:pt idx="3">
                    <c:v>Q4 FY26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0.75</c:v>
                </c:pt>
                <c:pt idx="1">
                  <c:v>5.15</c:v>
                </c:pt>
                <c:pt idx="2">
                  <c:v>23.03</c:v>
                </c:pt>
                <c:pt idx="3">
                  <c:v>43.97</c:v>
                </c:pt>
              </c:numCache>
            </c:numRef>
          </c:val>
        </c:ser>
        <c:dLbls>
          <c:numFmt formatCode="&quot;$&quot;0.00" sourceLinked="0"/>
          <c:txPr>
            <a:bodyPr/>
            <a:lstStyle/>
            <a:p>
              <a:pPr>
                <a:defRPr b="1" i="0" strike="noStrike" sz="1300" u="none">
                  <a:solidFill>
                    <a:srgbClr val="E8ECF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"/>
        </c:scaling>
        <c:delete val="1"/>
        <c:axPos val="l"/>
        <c:majorGridlines>
          <c:spPr>
            <a:ln w="12700" cap="flat">
              <a:solidFill>
                <a:srgbClr val="1E263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E14"/>
        </a:solidFill>
        <a:ln w="12700" cap="flat">
          <a:solidFill>
            <a:srgbClr val="0B0E14"/>
          </a:solidFill>
        </a:ln>
        <a:effectLst/>
      </c:spPr>
    </c:plotArea>
    <c:plotVisOnly val="1"/>
    <c:dispBlanksAs val="span"/>
  </c:chart>
  <c:spPr>
    <a:solidFill>
      <a:srgbClr val="0B0E14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FY2026 revenue ($B)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&quot;$&quot;0.00&quot;B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E8ECF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D948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Edge</c:v>
                  </c:pt>
                  <c:pt idx="1">
                    <c:v>Datacenter</c:v>
                  </c:pt>
                  <c:pt idx="2">
                    <c:v>Consumer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12.16</c:v>
                </c:pt>
                <c:pt idx="1">
                  <c:v>5.15</c:v>
                </c:pt>
                <c:pt idx="2">
                  <c:v>2.94</c:v>
                </c:pt>
              </c:numCache>
            </c:numRef>
          </c:val>
        </c:ser>
        <c:dLbls>
          <c:numFmt formatCode="&quot;$&quot;0.00&quot;B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E8ECF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.5"/>
        </c:scaling>
        <c:delete val="1"/>
        <c:axPos val="b"/>
        <c:majorGridlines>
          <c:spPr>
            <a:ln w="12700" cap="flat">
              <a:solidFill>
                <a:srgbClr val="1E263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E14"/>
        </a:solidFill>
        <a:ln w="12700" cap="flat">
          <a:solidFill>
            <a:srgbClr val="0B0E14"/>
          </a:solidFill>
        </a:ln>
        <a:effectLst/>
      </c:spPr>
    </c:plotArea>
    <c:plotVisOnly val="1"/>
    <c:dispBlanksAs val="span"/>
  </c:chart>
  <c:spPr>
    <a:solidFill>
      <a:srgbClr val="0B0E1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this is a company whose revenue nearly tripled in a year and whose stock has just fallen 30% from its high. Both things are true at once — that's the story.
FY2026 revenue $20.25B, up 175% year over year. Stock hit $2,354.39 on 22 June 2026 and was around $1,270-1,340 by 12 August.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 — it's context, not the story.
Key point: NAND flash. Commodity-ish memory business that has just been repriced by AI data centre demand. FY2025 revenue was roughly $7.4B; FY2026 was $20.25B.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setup for the whole video. Stock peaked 22 June at $2,354.39, then fell more than 30%. Q4 earnings landed 5 August — after the peak — and were a record.
Be careful on air: sources disagree on the exact 12 Aug close (roughly $1,271 to $1,344), which is why the slide shows a range rather than a number to the cent.
This is where you cut to the animated price chart if you render one locally.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acceleration is the point: $2.31B → $3.03B → $5.95B → $8.97B.
Two thirds of the year's revenue arrived in the second half. And Q4 on its own ($8.97B) was larger than the entire prior fiscal year (about $7.4B).
Cut to: 01-revenue-build.mp4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29.9% → 51.1% → 78.4% → 84.6%. That is a 54.7 point expansion in four quarters, which is extraordinary for a memory business.
This is the single most important slide for explaining why earnings exploded rather than merely grew. Pricing power from multi-year datacenter agreements.
Cut to: 03-gross-margin.mp4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chart everyone will screenshot. $0.75 → $5.15 → $23.03 → $43.97.
Q4 non-GAAP EPS of $39.25 beat consensus of about $33.38 by roughly 18%.
Full year GAAP diluted EPS $73.76, from net income of $11.43B.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Edge $12.16B, Datacenter $5.15B, Consumer $2.94B.
The mix shift is the real story: datacenter was about 12% of bits a year ago and 38% of the portfolio exiting FY2026. Consumer fell 32% sequentially in Q4 — that is deliberate, capacity being reallocated, not demand collapse.
Cut to: 02-segment-mix.mp4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tight — three reasons, one line each.
1. Demand: FY2026 enterprise AI storage capacity sold out under long-term agreements.
2. Technology: BiCS10 1Tb TLC, &gt;29 Gb/mm², bit density up 59%.
3. HBF: joint standard with SK hynix, OCP spec released August 2026, 512GB and 3TB/s. Sampling to customers in the second half of 2026 — this one is future revenue, not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Guidance: revenue $10.30-10.80B, non-GAAP EPS $44.00-46.00.
The framing that works: a year ago that same quarter was $2.31B and $1.22 non-GAAP EPS. So ~4.5x the revenue and &gt;30x the earnings.
Say clearly that this is guidance, not a reported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Forward P/E about 5.9, PEG 0.14, net cash $6.54B ($43.89/share), 149M shares.
Analyst average target $2,053.50 across 23 analysts, Strong Buy.
Do not present the low multiple as free money. The right framing is the one on the right-hand card: a mid-single-digit forward multiple is the market pricing peak earnings, not a mispricing everyone else missed.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both sides properly — this is what makes the video worth watching rather than a pump.
The strongest bear point is the third one: 84.6% gross margin is a cycle peak. Memory margins mean-revert violently. The strongest bull point is the sold-out capacity under multi-year commitments, which is what makes this cycle arguably different from previous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tension rather than on a call.
The one-line summary: revenue up 175%, margin up 54.7 points, stock down 30% — and the whole argument reduces to whether 84.6% gross margin is a peak or a plateau.
Standard disclaimer: this is not investment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50876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NASDAQ: SNDK   ·   FISCAL YEAR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1883664"/>
            <a:ext cx="110276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up 175%.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66928" y="2798064"/>
            <a:ext cx="110276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stock down 30%.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566928" y="3749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Sandisk's first full year on its own — and the gap between the business and the share price.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66928" y="5250788"/>
            <a:ext cx="457200" cy="619660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 w="12700">
            <a:solidFill>
              <a:srgbClr val="0B0E1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25296" y="5177350"/>
            <a:ext cx="457200" cy="693098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 w="12700">
            <a:solidFill>
              <a:srgbClr val="0B0E1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83664" y="4879520"/>
            <a:ext cx="457200" cy="990928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 w="12700">
            <a:solidFill>
              <a:srgbClr val="0B0E1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42032" y="4572000"/>
            <a:ext cx="457200" cy="1298448"/>
          </a:xfrm>
          <a:prstGeom prst="roundRect">
            <a:avLst>
              <a:gd name="adj" fmla="val 12000"/>
            </a:avLst>
          </a:prstGeom>
          <a:solidFill>
            <a:srgbClr val="3B82F6"/>
          </a:solidFill>
          <a:ln w="12700">
            <a:solidFill>
              <a:srgbClr val="0B0E1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01568" y="5440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revenue, Q1 to Q4 FY2026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from Sandisk quarterly results. Fiscal 2026 ended 3 July 2026.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company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Spun out of Western Digital in February 2025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52120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Sandisk makes NAND flash memory</a:t>
            </a:r>
            <a:endParaRPr lang="en-US" sz="1500" dirty="0"/>
          </a:p>
          <a:p>
            <a:pPr indent="0" marL="0">
              <a:lnSpc>
                <a:spcPts val="2300"/>
              </a:lnSpc>
              <a:spcAft>
                <a:spcPts val="1100"/>
              </a:spcAft>
              <a:buNone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storage inside SSDs, phones, cameras and, increasingly, AI data centres.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Western Digital bought it in 2016 and separated it again in February 2025.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traded as an independent company for about eighteen months.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is its first full fiscal year standing alone.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50292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Milpitas, California   ·   10,000+ employees   ·   CEO David Goeckeler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263640" y="1783080"/>
            <a:ext cx="2528316" cy="1737360"/>
          </a:xfrm>
          <a:prstGeom prst="roundRect">
            <a:avLst>
              <a:gd name="adj" fmla="val 6316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83096" y="1929384"/>
            <a:ext cx="208940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$20.2B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83096" y="2894990"/>
            <a:ext cx="20894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revenue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066276" y="1783080"/>
            <a:ext cx="2528316" cy="1737360"/>
          </a:xfrm>
          <a:prstGeom prst="roundRect">
            <a:avLst>
              <a:gd name="adj" fmla="val 6316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85732" y="1929384"/>
            <a:ext cx="208940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+175%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9285732" y="2894990"/>
            <a:ext cx="20894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growth vs FY2025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63640" y="3794760"/>
            <a:ext cx="2528316" cy="1737360"/>
          </a:xfrm>
          <a:prstGeom prst="roundRect">
            <a:avLst>
              <a:gd name="adj" fmla="val 6316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83096" y="3941064"/>
            <a:ext cx="208940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$11.4B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483096" y="4906670"/>
            <a:ext cx="20894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net income (GAAP)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66276" y="3794760"/>
            <a:ext cx="2528316" cy="1737360"/>
          </a:xfrm>
          <a:prstGeom prst="roundRect">
            <a:avLst>
              <a:gd name="adj" fmla="val 6316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85732" y="3941064"/>
            <a:ext cx="208940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$73.76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9285732" y="4906670"/>
            <a:ext cx="20894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diluted EPS (GAAP)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Sandisk FY2026 results. FY2025 revenue of about $7.4B is implied by the reported 175% growth.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share price did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moves, both enormous, in opposite directions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480816" cy="2011680"/>
          </a:xfrm>
          <a:prstGeom prst="roundRect">
            <a:avLst>
              <a:gd name="adj" fmla="val 545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2020824"/>
            <a:ext cx="3041904" cy="9253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$2,354.39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86384" y="3161995"/>
            <a:ext cx="3041904" cy="643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All-time high, 22 June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0352" y="1874520"/>
            <a:ext cx="3480816" cy="2011680"/>
          </a:xfrm>
          <a:prstGeom prst="roundRect">
            <a:avLst>
              <a:gd name="adj" fmla="val 545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9808" y="2020824"/>
            <a:ext cx="3041904" cy="9253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$1,271–1,344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59808" y="3161995"/>
            <a:ext cx="3041904" cy="643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range on 12 August 2026 — sources differ on the close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13776" y="1874520"/>
            <a:ext cx="3480816" cy="2011680"/>
          </a:xfrm>
          <a:prstGeom prst="roundRect">
            <a:avLst>
              <a:gd name="adj" fmla="val 545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3232" y="2020824"/>
            <a:ext cx="3041904" cy="9253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−30%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333232" y="3161995"/>
            <a:ext cx="3041904" cy="643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Retreat from the June high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215384"/>
            <a:ext cx="11027664" cy="1170432"/>
          </a:xfrm>
          <a:prstGeom prst="roundRect">
            <a:avLst>
              <a:gd name="adj" fmla="val 9375"/>
            </a:avLst>
          </a:prstGeom>
          <a:solidFill>
            <a:srgbClr val="1C2536"/>
          </a:solidFill>
          <a:ln w="12700">
            <a:solidFill>
              <a:srgbClr val="1C253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4398264"/>
            <a:ext cx="10405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drawdown came with no deterioration in the reported numbers. Q4 was the strongest quarter the company has ever posted, and it was posted after the high.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milestones as reported in August 2026. No continuous price series is shown here — see the animated charts.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quarter by quarter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— every quarter bigger than the last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600200"/>
          <a:ext cx="7406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37360"/>
            <a:ext cx="3319272" cy="1371600"/>
          </a:xfrm>
          <a:prstGeom prst="roundRect">
            <a:avLst>
              <a:gd name="adj" fmla="val 8000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494776" y="1883664"/>
            <a:ext cx="28803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3.9x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494776" y="2615184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revenue versus Q1, four quarters apart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275320" y="3291840"/>
            <a:ext cx="3319272" cy="2468880"/>
          </a:xfrm>
          <a:prstGeom prst="roundRect">
            <a:avLst>
              <a:gd name="adj" fmla="val 4444"/>
            </a:avLst>
          </a:prstGeom>
          <a:solidFill>
            <a:srgbClr val="1C2536"/>
          </a:solidFill>
          <a:ln w="12700">
            <a:solidFill>
              <a:srgbClr val="1C253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13064" y="3520440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alone was bigger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 all of FY2025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513064" y="4462272"/>
            <a:ext cx="28437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FY2026 revenue of $8.97B against roughly $7.4B for the whole of the prior fiscal year.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quarterly revenue. Quarters sum to $20.25B, the reported FY2026 total.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margin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Non-GAAP, by quarter — the part that turned revenue into profit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600200"/>
          <a:ext cx="7406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37360"/>
            <a:ext cx="3319272" cy="1371600"/>
          </a:xfrm>
          <a:prstGeom prst="roundRect">
            <a:avLst>
              <a:gd name="adj" fmla="val 8000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494776" y="1883664"/>
            <a:ext cx="28803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+54.7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494776" y="2615184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 points added across FY2026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275320" y="3291840"/>
            <a:ext cx="3319272" cy="2468880"/>
          </a:xfrm>
          <a:prstGeom prst="roundRect">
            <a:avLst>
              <a:gd name="adj" fmla="val 4444"/>
            </a:avLst>
          </a:prstGeom>
          <a:solidFill>
            <a:srgbClr val="1C2536"/>
          </a:solidFill>
          <a:ln w="12700">
            <a:solidFill>
              <a:srgbClr val="1C253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13064" y="35204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513064" y="3977640"/>
            <a:ext cx="28437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roughly quadrupled. Profit did far more than that, because each extra dollar of revenue arrived at a much higher margin than the one before it.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Non-GAAP gross margin as reported each quarter. Q4 FY2026: 84.6%.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Earnings per share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GAAP diluted, by quarter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600200"/>
          <a:ext cx="7406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37360"/>
            <a:ext cx="3319272" cy="1371600"/>
          </a:xfrm>
          <a:prstGeom prst="roundRect">
            <a:avLst>
              <a:gd name="adj" fmla="val 8000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494776" y="1883664"/>
            <a:ext cx="28803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$73.76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494776" y="2615184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GAAP diluted EPS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275320" y="3291840"/>
            <a:ext cx="3319272" cy="1170432"/>
          </a:xfrm>
          <a:prstGeom prst="roundRect">
            <a:avLst>
              <a:gd name="adj" fmla="val 937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94776" y="3438144"/>
            <a:ext cx="2880360" cy="538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B95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$0.75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494776" y="4040916"/>
            <a:ext cx="2880360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FY2026 — where the year started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275320" y="4590288"/>
            <a:ext cx="3319272" cy="1170432"/>
          </a:xfrm>
          <a:prstGeom prst="roundRect">
            <a:avLst>
              <a:gd name="adj" fmla="val 937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94776" y="4736592"/>
            <a:ext cx="2880360" cy="538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$43.97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8494776" y="5339364"/>
            <a:ext cx="2880360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FY2026 — where it finished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GAAP diluted EPS. Q4 non-GAAP EPS was $39.25, against a consensus near $33.38.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revenue comes from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by segment — and what changed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691640"/>
          <a:ext cx="69494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82128" y="1691640"/>
            <a:ext cx="3712464" cy="1463040"/>
          </a:xfrm>
          <a:prstGeom prst="roundRect">
            <a:avLst>
              <a:gd name="adj" fmla="val 7500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101584" y="1837944"/>
            <a:ext cx="3273552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+437%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101584" y="2627986"/>
            <a:ext cx="3273552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Datacenter revenue, year over year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882128" y="3310128"/>
            <a:ext cx="3712464" cy="1463040"/>
          </a:xfrm>
          <a:prstGeom prst="roundRect">
            <a:avLst>
              <a:gd name="adj" fmla="val 7500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01584" y="3456432"/>
            <a:ext cx="3273552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 → 38%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8101584" y="4246474"/>
            <a:ext cx="3273552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Datacenter share of the portfolio, in one year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882128" y="4928616"/>
            <a:ext cx="3712464" cy="1005840"/>
          </a:xfrm>
          <a:prstGeom prst="roundRect">
            <a:avLst>
              <a:gd name="adj" fmla="val 10909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01584" y="5074920"/>
            <a:ext cx="3273552" cy="462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−32%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101584" y="5572354"/>
            <a:ext cx="327355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revenue, Q4 sequentially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507492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is still the largest segment. Datacenter is the one that re-rated the company — and Consumer is shrinking as capacity is pointed at higher-value customers.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segment revenue. The three segments sum to the reported $20.25B total.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numbers moved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behind the re-rating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3480816" cy="3877056"/>
          </a:xfrm>
          <a:prstGeom prst="roundRect">
            <a:avLst>
              <a:gd name="adj" fmla="val 3152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2103120"/>
            <a:ext cx="566928" cy="56692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59536" y="2871216"/>
            <a:ext cx="289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data centre demand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59536" y="3675888"/>
            <a:ext cx="289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storage capacity sold out under long-term agreements, with multi-year customer commitments behind it rather than spot orders.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0352" y="1810512"/>
            <a:ext cx="3480816" cy="3877056"/>
          </a:xfrm>
          <a:prstGeom prst="roundRect">
            <a:avLst>
              <a:gd name="adj" fmla="val 3152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32960" y="2103120"/>
            <a:ext cx="566928" cy="56692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32960" y="2871216"/>
            <a:ext cx="289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BiCS10, the tenth-generation NAND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32960" y="3675888"/>
            <a:ext cx="289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1Tb TLC sampling at more than 29 Gb/mm², a 59% improvement in bit density — more capacity from the same wafer.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13776" y="1810512"/>
            <a:ext cx="3480816" cy="3877056"/>
          </a:xfrm>
          <a:prstGeom prst="roundRect">
            <a:avLst>
              <a:gd name="adj" fmla="val 3152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06384" y="2103120"/>
            <a:ext cx="566928" cy="56692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063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06384" y="2871216"/>
            <a:ext cx="289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Bandwidth Flash, with SK hynix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06384" y="3675888"/>
            <a:ext cx="289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OCP technical specification published August 2026: up to 512GB per stack and up to 3TB/s, aimed at the AI inference bottleneck.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Sandisk product announcements and FY2026 results commentary.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management guided to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quarter of fiscal 2027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394960" cy="1874520"/>
          </a:xfrm>
          <a:prstGeom prst="roundRect">
            <a:avLst>
              <a:gd name="adj" fmla="val 5854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2020824"/>
            <a:ext cx="4956048" cy="862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$10.30–10.80B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86384" y="3074213"/>
            <a:ext cx="4956048" cy="599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FY2027 revenue guidance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91072" y="1874520"/>
            <a:ext cx="5394960" cy="1874520"/>
          </a:xfrm>
          <a:prstGeom prst="roundRect">
            <a:avLst>
              <a:gd name="adj" fmla="val 5854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10528" y="2020824"/>
            <a:ext cx="4956048" cy="862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$44.00–46.00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510528" y="3074213"/>
            <a:ext cx="4956048" cy="599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FY2027 non-GAAP diluted EPS guidance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4041648"/>
            <a:ext cx="11027664" cy="1572768"/>
          </a:xfrm>
          <a:prstGeom prst="roundRect">
            <a:avLst>
              <a:gd name="adj" fmla="val 6977"/>
            </a:avLst>
          </a:prstGeom>
          <a:solidFill>
            <a:srgbClr val="1C2536"/>
          </a:solidFill>
          <a:ln w="12700">
            <a:solidFill>
              <a:srgbClr val="1C25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4224528"/>
            <a:ext cx="10369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comparison that makes it land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96112" y="4645152"/>
            <a:ext cx="10369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earlier, Q1 FY2026 brought in $2.31B and earned $1.22 a share on a non-GAAP basis. The guided quarter is roughly four and a half times the revenue — and more than thirty times the earnings.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issued with Q4 FY2026 results, 5 August 2026. Guidance is management's estimate, not a result.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trades at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30% fall from the high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2564892" cy="1572768"/>
          </a:xfrm>
          <a:prstGeom prst="roundRect">
            <a:avLst>
              <a:gd name="adj" fmla="val 6977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1883664"/>
            <a:ext cx="2125980" cy="723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5.9x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86384" y="2743932"/>
            <a:ext cx="2125980" cy="503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price / earnings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7852" y="1737360"/>
            <a:ext cx="2564892" cy="1572768"/>
          </a:xfrm>
          <a:prstGeom prst="roundRect">
            <a:avLst>
              <a:gd name="adj" fmla="val 6977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7308" y="1883664"/>
            <a:ext cx="2125980" cy="723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0.14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607308" y="2743932"/>
            <a:ext cx="2125980" cy="503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 ratio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08776" y="1737360"/>
            <a:ext cx="2564892" cy="1572768"/>
          </a:xfrm>
          <a:prstGeom prst="roundRect">
            <a:avLst>
              <a:gd name="adj" fmla="val 6977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28232" y="1883664"/>
            <a:ext cx="2125980" cy="723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$6.54B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28232" y="2743932"/>
            <a:ext cx="2125980" cy="503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— about $43.89 a share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29700" y="1737360"/>
            <a:ext cx="2564892" cy="1572768"/>
          </a:xfrm>
          <a:prstGeom prst="roundRect">
            <a:avLst>
              <a:gd name="adj" fmla="val 6977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49156" y="1883664"/>
            <a:ext cx="2125980" cy="723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C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149M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249156" y="2743932"/>
            <a:ext cx="2125980" cy="503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 outstanding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486400" cy="2212848"/>
          </a:xfrm>
          <a:prstGeom prst="roundRect">
            <a:avLst>
              <a:gd name="adj" fmla="val 4959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3621024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sell side says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59536" y="4041648"/>
            <a:ext cx="4901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$2,053.5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859536" y="4791456"/>
            <a:ext cx="4901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12-month target across 23 analysts, consensus rating "Strong Buy".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82512" y="3401568"/>
            <a:ext cx="5212080" cy="2212848"/>
          </a:xfrm>
          <a:prstGeom prst="roundRect">
            <a:avLst>
              <a:gd name="adj" fmla="val 4959"/>
            </a:avLst>
          </a:prstGeom>
          <a:solidFill>
            <a:srgbClr val="1C2536"/>
          </a:solidFill>
          <a:ln w="12700">
            <a:solidFill>
              <a:srgbClr val="1C253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0" y="3621024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obvious question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675120" y="4078224"/>
            <a:ext cx="4626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single-digit forward multiple usually means the market does not believe the earnings are repeatable. For a memory company at a cyclical peak, that is a reasonable thing for the market to think — and the thing to argue about.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metrics as reported in mid-August 2026; market capitalisation was quoted between $180B and $188B.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argument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sides, from the same set of numbers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330952" cy="3520440"/>
          </a:xfrm>
          <a:prstGeom prst="roundRect">
            <a:avLst>
              <a:gd name="adj" fmla="val 3117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7824" y="1956816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bull case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77824" y="2523744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enterprise AI storage capacity sold out under long-term agreements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up 54.7 points in four quarters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Datacenter revenue up 437% year over year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of $6.54B and no debt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implies the acceleration continues into FY2027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1737360"/>
            <a:ext cx="5330952" cy="3520440"/>
          </a:xfrm>
          <a:prstGeom prst="roundRect">
            <a:avLst>
              <a:gd name="adj" fmla="val 3117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74536" y="1956816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bear case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74536" y="2523744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is historically the most cyclical business in semiconductors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84.6% gross margin is a peak, not a baseline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revenue fell 32% sequentially in Q4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concentrated in a few very large hyperscale customers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stock has already fallen more than 30% from its June high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columns are drawn from the same reported FY2026 figures.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34440"/>
            <a:ext cx="11027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numbers to remember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66928" y="2331720"/>
            <a:ext cx="3480816" cy="2011680"/>
          </a:xfrm>
          <a:prstGeom prst="roundRect">
            <a:avLst>
              <a:gd name="adj" fmla="val 545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86384" y="2478024"/>
            <a:ext cx="3041904" cy="9253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$20.2B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86384" y="3619195"/>
            <a:ext cx="3041904" cy="643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revenue, up 175% on the prior year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40352" y="2331720"/>
            <a:ext cx="3480816" cy="2011680"/>
          </a:xfrm>
          <a:prstGeom prst="roundRect">
            <a:avLst>
              <a:gd name="adj" fmla="val 545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59808" y="2478024"/>
            <a:ext cx="3041904" cy="9253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84.6%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59808" y="3619195"/>
            <a:ext cx="3041904" cy="643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non-GAAP gross margin, from 29.9% in Q1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13776" y="2331720"/>
            <a:ext cx="3480816" cy="2011680"/>
          </a:xfrm>
          <a:prstGeom prst="roundRect">
            <a:avLst>
              <a:gd name="adj" fmla="val 545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33232" y="2478024"/>
            <a:ext cx="3041904" cy="9253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−30%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8333232" y="3619195"/>
            <a:ext cx="3041904" cy="643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 price, from its June high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" y="4709160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and the share price have been telling different stories since June. Which one turns out to be right depends entirely on whether 84.6% is a new normal or a peak.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Sandisk FY2026 results, reported 5 August 2026. Not investment advice.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Sandisk (SNDK) — FY2026</dc:title>
  <dc:subject>PptxGenJS Presentation</dc:subject>
  <dc:creator>Rolltape</dc:creator>
  <cp:lastModifiedBy>Rolltape</cp:lastModifiedBy>
  <cp:revision>1</cp:revision>
  <dcterms:created xsi:type="dcterms:W3CDTF">2026-08-13T05:52:12Z</dcterms:created>
  <dcterms:modified xsi:type="dcterms:W3CDTF">2026-08-13T05:52:12Z</dcterms:modified>
</cp:coreProperties>
</file>